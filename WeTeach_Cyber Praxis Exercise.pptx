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2255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Quick intro on who we are, then we jump into the scenario. About 10 minutes of slides, then the rest of the hour is the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sit between education and industry. Three areas: supporting teachers, empowering students, and building industry connections.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job in security operations and detection engineering. Started NGCE to narrow the gap between what students learn and what industry needs. And yes, that is me rally driving.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Praxis is our tabletop exercise platform for K-12. Browser only, nothing to install. Every scenario ships with a facilitator kit. The link is here now and again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vague on purpose: let them discover the story as it unfolds. Emphasize that they play individually but should talk with neighbors during votes. Point out the educator role as a demonstration of how flexible the platform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note-taking needed. We will do a SWOT together at 2:00. Get everyone joined, then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here. Invite them to register their school or district. Leave this up during the SWOT if you want the link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6329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202020"/>
                </a:solidFill>
                <a:latin typeface="Black Ops One" pitchFamily="34" charset="0"/>
                <a:ea typeface="Black Ops One" pitchFamily="34" charset="-122"/>
                <a:cs typeface="Black Ops One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70980"/>
            <a:ext cx="10566400" cy="4074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202020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6329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202020"/>
                </a:solidFill>
                <a:latin typeface="Black Ops One" pitchFamily="34" charset="0"/>
                <a:ea typeface="Black Ops One" pitchFamily="34" charset="-122"/>
                <a:cs typeface="Black Ops One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70980"/>
            <a:ext cx="10566400" cy="4074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202020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D6273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Next Gen Cyber Ed logo"/>
          <p:cNvPicPr>
            <a:picLocks noChangeAspect="1"/>
          </p:cNvPicPr>
          <p:nvPr/>
        </p:nvPicPr>
        <p:blipFill>
          <a:blip r:embed="rId3"/>
          <a:srcRect l="-86" r="-86"/>
          <a:stretch/>
        </p:blipFill>
        <p:spPr>
          <a:xfrm>
            <a:off x="812800" y="812800"/>
            <a:ext cx="4572000" cy="111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270262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F0555D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/ / WETEACH_CYBER FALL IN-PERSON MEETING</a:t>
            </a:r>
            <a:endParaRPr lang="en-US" sz="1400" dirty="0"/>
          </a:p>
        </p:txBody>
      </p:sp>
      <p:sp>
        <p:nvSpPr>
          <p:cNvPr id="5" name="Text 2"/>
          <p:cNvSpPr>
            <a:spLocks noGrp="1"/>
          </p:cNvSpPr>
          <p:nvPr>
            <p:ph type="title"/>
          </p:nvPr>
        </p:nvSpPr>
        <p:spPr>
          <a:xfrm>
            <a:off x="812800" y="3103910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0" i="0" dirty="0">
                <a:solidFill>
                  <a:srgbClr val="FFFFFF"/>
                </a:solidFill>
                <a:latin typeface="Black Ops One" pitchFamily="34" charset="0"/>
                <a:ea typeface="Black Ops One" pitchFamily="34" charset="-122"/>
                <a:cs typeface="Black Ops One" pitchFamily="34" charset="-120"/>
              </a:rPr>
              <a:t>TABLETOP SCENARIO EXERCISE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812800" y="5760740"/>
            <a:ext cx="453788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8CACD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Texas Advanced Computing Center | October 19, 2026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80263" y="5476280"/>
            <a:ext cx="219893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John Owen</a:t>
            </a:r>
            <a:r>
              <a:rPr lang="en-US" sz="1600" dirty="0">
                <a:solidFill>
                  <a:srgbClr val="FFFFFF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, Executive Director</a:t>
            </a:r>
            <a:endParaRPr lang="en-US" sz="1600" dirty="0"/>
          </a:p>
          <a:p>
            <a:pPr marL="0" indent="0" algn="r">
              <a:lnSpc>
                <a:spcPts val="2240"/>
              </a:lnSpc>
              <a:buNone/>
            </a:pPr>
            <a:r>
              <a:rPr lang="en-US" sz="1600" dirty="0">
                <a:solidFill>
                  <a:srgbClr val="C8CACD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nextgencybered.org</a:t>
            </a: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C514D1-ACAA-B9E7-DF2F-597C01BB2EDB}"/>
              </a:ext>
            </a:extLst>
          </p:cNvPr>
          <p:cNvSpPr txBox="1"/>
          <p:nvPr/>
        </p:nvSpPr>
        <p:spPr>
          <a:xfrm>
            <a:off x="5932949" y="1091348"/>
            <a:ext cx="6099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</a:t>
            </a:r>
            <a:r>
              <a:rPr lang="en-US" dirty="0" err="1">
                <a:solidFill>
                  <a:schemeClr val="bg1"/>
                </a:solidFill>
              </a:rPr>
              <a:t>www.blackhillsinfosec.com</a:t>
            </a:r>
            <a:r>
              <a:rPr lang="en-US" dirty="0">
                <a:solidFill>
                  <a:schemeClr val="bg1"/>
                </a:solidFill>
              </a:rPr>
              <a:t>/tools/</a:t>
            </a:r>
            <a:r>
              <a:rPr lang="en-US" dirty="0" err="1">
                <a:solidFill>
                  <a:schemeClr val="bg1"/>
                </a:solidFill>
              </a:rPr>
              <a:t>backdoorsandbreaches</a:t>
            </a:r>
            <a:r>
              <a:rPr lang="en-US" dirty="0">
                <a:solidFill>
                  <a:schemeClr val="bg1"/>
                </a:solidFill>
              </a:rPr>
              <a:t>/classic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35B46C-C07E-78F3-2CDA-F85FAED56D97}"/>
              </a:ext>
            </a:extLst>
          </p:cNvPr>
          <p:cNvSpPr txBox="1"/>
          <p:nvPr/>
        </p:nvSpPr>
        <p:spPr>
          <a:xfrm>
            <a:off x="5932949" y="628134"/>
            <a:ext cx="6099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</a:t>
            </a:r>
            <a:r>
              <a:rPr lang="en-US" dirty="0" err="1">
                <a:solidFill>
                  <a:schemeClr val="bg1"/>
                </a:solidFill>
              </a:rPr>
              <a:t>github.com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NextGenCyberEd</a:t>
            </a:r>
            <a:r>
              <a:rPr lang="en-US" dirty="0">
                <a:solidFill>
                  <a:schemeClr val="bg1"/>
                </a:solidFill>
              </a:rPr>
              <a:t>/WeTeach_Cyber_Fall2026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D62731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/ / WHO WE ARE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6329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202020"/>
                </a:solidFill>
                <a:latin typeface="Black Ops One" pitchFamily="34" charset="0"/>
                <a:ea typeface="Black Ops One" pitchFamily="34" charset="-122"/>
                <a:cs typeface="Black Ops One" pitchFamily="34" charset="-120"/>
              </a:rPr>
              <a:t>NEXT GEN CYBER 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767780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202020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A Texas 501(c)(3) nonprofit strengthening K-12 cybersecurity education.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2199580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4E5157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Our mission:</a:t>
            </a:r>
            <a:r>
              <a:rPr lang="en-US" sz="1700" dirty="0">
                <a:solidFill>
                  <a:srgbClr val="4E5157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 connect educators and students with trusted resources, hands-on experiences, and industry partnerships.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15975" y="3660775"/>
            <a:ext cx="3380284" cy="2178050"/>
          </a:xfrm>
          <a:prstGeom prst="roundRect">
            <a:avLst>
              <a:gd name="adj" fmla="val 3936"/>
            </a:avLst>
          </a:prstGeom>
          <a:solidFill>
            <a:srgbClr val="F5F5F4"/>
          </a:solidFill>
          <a:ln w="6350">
            <a:solidFill>
              <a:srgbClr val="DDDE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73150" y="3917950"/>
            <a:ext cx="355600" cy="355600"/>
          </a:xfrm>
          <a:prstGeom prst="rect">
            <a:avLst/>
          </a:prstGeom>
          <a:solidFill>
            <a:srgbClr val="2020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lack Ops One" pitchFamily="34" charset="0"/>
                <a:ea typeface="Black Ops One" pitchFamily="34" charset="-122"/>
                <a:cs typeface="Black Ops One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3150" y="4375150"/>
            <a:ext cx="29519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02020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Classroom support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73150" y="4781550"/>
            <a:ext cx="295191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F4247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Vetted curriculum connections, professional development, and hands-on activities like today’s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05809" y="3660775"/>
            <a:ext cx="3380333" cy="2178050"/>
          </a:xfrm>
          <a:prstGeom prst="roundRect">
            <a:avLst>
              <a:gd name="adj" fmla="val 3936"/>
            </a:avLst>
          </a:prstGeom>
          <a:solidFill>
            <a:srgbClr val="F5F5F4"/>
          </a:solidFill>
          <a:ln w="6350">
            <a:solidFill>
              <a:srgbClr val="DDDE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2984" y="3917950"/>
            <a:ext cx="355600" cy="355600"/>
          </a:xfrm>
          <a:prstGeom prst="rect">
            <a:avLst/>
          </a:prstGeom>
          <a:solidFill>
            <a:srgbClr val="2020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lack Ops One" pitchFamily="34" charset="0"/>
                <a:ea typeface="Black Ops One" pitchFamily="34" charset="-122"/>
                <a:cs typeface="Black Ops One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2984" y="4375150"/>
            <a:ext cx="29519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02020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Student empowerment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2984" y="4781550"/>
            <a:ext cx="295196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F4247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Tabletop exercises, mock interviews with industry professionals, and mentorship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95692" y="3660775"/>
            <a:ext cx="3380333" cy="2178050"/>
          </a:xfrm>
          <a:prstGeom prst="roundRect">
            <a:avLst>
              <a:gd name="adj" fmla="val 3936"/>
            </a:avLst>
          </a:prstGeom>
          <a:solidFill>
            <a:srgbClr val="F5F5F4"/>
          </a:solidFill>
          <a:ln w="6350">
            <a:solidFill>
              <a:srgbClr val="DDDE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52867" y="3917950"/>
            <a:ext cx="355600" cy="355600"/>
          </a:xfrm>
          <a:prstGeom prst="rect">
            <a:avLst/>
          </a:prstGeom>
          <a:solidFill>
            <a:srgbClr val="2020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lack Ops One" pitchFamily="34" charset="0"/>
                <a:ea typeface="Black Ops One" pitchFamily="34" charset="-122"/>
                <a:cs typeface="Black Ops One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52867" y="4375150"/>
            <a:ext cx="29519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02020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Industry connections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52867" y="4781550"/>
            <a:ext cx="295196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F4247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Mentors, internships, and practitioners in classrooms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6B6E73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// 02 OF 07</a:t>
            </a:r>
            <a:endParaRPr lang="en-US" sz="1200" dirty="0"/>
          </a:p>
        </p:txBody>
      </p:sp>
      <p:pic>
        <p:nvPicPr>
          <p:cNvPr id="19" name="Image 0" descr="Next Gen Cyber Ed logo"/>
          <p:cNvPicPr>
            <a:picLocks noChangeAspect="1"/>
          </p:cNvPicPr>
          <p:nvPr/>
        </p:nvPicPr>
        <p:blipFill>
          <a:blip r:embed="rId3"/>
          <a:srcRect t="-28" b="-28"/>
          <a:stretch/>
        </p:blipFill>
        <p:spPr>
          <a:xfrm>
            <a:off x="10109200" y="6191250"/>
            <a:ext cx="1270000" cy="311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538937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D62731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/ / ABOUT ME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63290"/>
            <a:ext cx="538937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202020"/>
                </a:solidFill>
                <a:latin typeface="Black Ops One" pitchFamily="34" charset="0"/>
                <a:ea typeface="Black Ops One" pitchFamily="34" charset="-122"/>
                <a:cs typeface="Black Ops One" pitchFamily="34" charset="-120"/>
              </a:rPr>
              <a:t>JOHN OWEN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767780"/>
            <a:ext cx="538937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D62731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Executive Director, Next Gen Cyber 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4296" y="2920057"/>
            <a:ext cx="5350256" cy="2216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2504" indent="-222504" algn="l">
              <a:lnSpc>
                <a:spcPts val="2465"/>
              </a:lnSpc>
              <a:buSzPct val="100000"/>
              <a:buChar char="•"/>
            </a:pPr>
            <a:r>
              <a:rPr lang="en-US" sz="1700" dirty="0">
                <a:solidFill>
                  <a:srgbClr val="202020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15+ years in cybersecurity and data analytics</a:t>
            </a:r>
            <a:endParaRPr lang="en-US" sz="1700" dirty="0"/>
          </a:p>
          <a:p>
            <a:pPr marL="222504" indent="-222504" algn="l">
              <a:lnSpc>
                <a:spcPts val="2465"/>
              </a:lnSpc>
              <a:buSzPct val="100000"/>
              <a:buChar char="•"/>
            </a:pPr>
            <a:r>
              <a:rPr lang="en-US" sz="1700" dirty="0">
                <a:solidFill>
                  <a:srgbClr val="202020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Background in digital forensics and mathematics</a:t>
            </a:r>
            <a:endParaRPr lang="en-US" sz="1700" dirty="0"/>
          </a:p>
          <a:p>
            <a:pPr marL="222504" indent="-222504" algn="l">
              <a:lnSpc>
                <a:spcPts val="2465"/>
              </a:lnSpc>
              <a:buSzPct val="100000"/>
              <a:buChar char="•"/>
            </a:pPr>
            <a:r>
              <a:rPr lang="en-US" sz="1700" dirty="0">
                <a:solidFill>
                  <a:srgbClr val="202020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Director of Security &amp; Data Analytics, Fulcrum Technology Solutions: security operations and detection engineering</a:t>
            </a:r>
            <a:endParaRPr lang="en-US" sz="1700" dirty="0"/>
          </a:p>
          <a:p>
            <a:pPr marL="222504" indent="-222504" algn="l">
              <a:lnSpc>
                <a:spcPts val="2465"/>
              </a:lnSpc>
              <a:buSzPct val="100000"/>
              <a:buChar char="•"/>
            </a:pPr>
            <a:r>
              <a:rPr lang="en-US" sz="1700" dirty="0">
                <a:solidFill>
                  <a:srgbClr val="202020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Started NGCE to narrow the gap between cybersecurity education and industry</a:t>
            </a:r>
            <a:endParaRPr lang="en-US" sz="1700" dirty="0"/>
          </a:p>
          <a:p>
            <a:pPr marL="222504" indent="-222504" algn="l">
              <a:lnSpc>
                <a:spcPts val="2465"/>
              </a:lnSpc>
              <a:buSzPct val="100000"/>
              <a:buChar char="•"/>
            </a:pPr>
            <a:r>
              <a:rPr lang="en-US" sz="1700" dirty="0">
                <a:solidFill>
                  <a:srgbClr val="202020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Part-time rally driver</a:t>
            </a:r>
            <a:endParaRPr lang="en-US" sz="1700" dirty="0"/>
          </a:p>
        </p:txBody>
      </p:sp>
      <p:pic>
        <p:nvPicPr>
          <p:cNvPr id="6" name="Image 0" descr="John Owen rally driving"/>
          <p:cNvPicPr>
            <a:picLocks noChangeAspect="1"/>
          </p:cNvPicPr>
          <p:nvPr/>
        </p:nvPicPr>
        <p:blipFill>
          <a:blip r:embed="rId3"/>
          <a:srcRect t="263" b="263"/>
          <a:stretch/>
        </p:blipFill>
        <p:spPr>
          <a:xfrm>
            <a:off x="6553200" y="1727200"/>
            <a:ext cx="4826000" cy="3200400"/>
          </a:xfrm>
          <a:prstGeom prst="roundRect">
            <a:avLst>
              <a:gd name="adj" fmla="val 2778"/>
            </a:avLst>
          </a:prstGeom>
        </p:spPr>
      </p:pic>
      <p:sp>
        <p:nvSpPr>
          <p:cNvPr id="7" name="Text 4"/>
          <p:cNvSpPr/>
          <p:nvPr/>
        </p:nvSpPr>
        <p:spPr>
          <a:xfrm>
            <a:off x="812800" y="62382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6B6E73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// 03 OF 07</a:t>
            </a:r>
            <a:endParaRPr lang="en-US" sz="1200" dirty="0"/>
          </a:p>
        </p:txBody>
      </p:sp>
      <p:pic>
        <p:nvPicPr>
          <p:cNvPr id="8" name="Image 1" descr="Next Gen Cyber Ed logo"/>
          <p:cNvPicPr>
            <a:picLocks noChangeAspect="1"/>
          </p:cNvPicPr>
          <p:nvPr/>
        </p:nvPicPr>
        <p:blipFill>
          <a:blip r:embed="rId4"/>
          <a:srcRect t="-28" b="-28"/>
          <a:stretch/>
        </p:blipFill>
        <p:spPr>
          <a:xfrm>
            <a:off x="10109200" y="6191250"/>
            <a:ext cx="1270000" cy="311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axis cybersecurity tabletop exercises logo"/>
          <p:cNvPicPr>
            <a:picLocks noChangeAspect="1"/>
          </p:cNvPicPr>
          <p:nvPr/>
        </p:nvPicPr>
        <p:blipFill>
          <a:blip r:embed="rId3"/>
          <a:srcRect t="-1366" b="-1366"/>
          <a:stretch/>
        </p:blipFill>
        <p:spPr>
          <a:xfrm>
            <a:off x="812800" y="812800"/>
            <a:ext cx="3048000" cy="74295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168275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202020"/>
                </a:solidFill>
                <a:latin typeface="Black Ops One" pitchFamily="34" charset="0"/>
                <a:ea typeface="Black Ops One" pitchFamily="34" charset="-122"/>
                <a:cs typeface="Black Ops One" pitchFamily="34" charset="-120"/>
              </a:rPr>
              <a:t>BUILT FOR K-12 CLASSROOMS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44296" y="2856607"/>
            <a:ext cx="10844276" cy="1590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2504" indent="-222504" algn="l">
              <a:lnSpc>
                <a:spcPts val="2465"/>
              </a:lnSpc>
              <a:buSzPct val="100000"/>
              <a:buChar char="•"/>
            </a:pPr>
            <a:r>
              <a:rPr lang="en-US" sz="1700" dirty="0">
                <a:solidFill>
                  <a:srgbClr val="202020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Realistic cyber incident scenarios written for students, organized by grade band</a:t>
            </a:r>
            <a:endParaRPr lang="en-US" sz="1700" dirty="0"/>
          </a:p>
          <a:p>
            <a:pPr marL="222504" indent="-222504" algn="l">
              <a:lnSpc>
                <a:spcPts val="2465"/>
              </a:lnSpc>
              <a:buSzPct val="100000"/>
              <a:buChar char="•"/>
            </a:pPr>
            <a:r>
              <a:rPr lang="en-US" sz="1700" dirty="0">
                <a:solidFill>
                  <a:srgbClr val="202020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Players step into a role, work through an unfolding situation, and make decisions as it develops</a:t>
            </a:r>
            <a:endParaRPr lang="en-US" sz="1700" dirty="0"/>
          </a:p>
          <a:p>
            <a:pPr marL="222504" indent="-222504" algn="l">
              <a:lnSpc>
                <a:spcPts val="2465"/>
              </a:lnSpc>
              <a:buSzPct val="100000"/>
              <a:buChar char="•"/>
            </a:pPr>
            <a:r>
              <a:rPr lang="en-US" sz="1700" dirty="0">
                <a:solidFill>
                  <a:srgbClr val="202020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Students join from any web browser. No installs, no lab setup.</a:t>
            </a:r>
            <a:endParaRPr lang="en-US" sz="1700" dirty="0"/>
          </a:p>
          <a:p>
            <a:pPr marL="222504" indent="-222504" algn="l">
              <a:lnSpc>
                <a:spcPts val="2465"/>
              </a:lnSpc>
              <a:buSzPct val="100000"/>
              <a:buChar char="•"/>
            </a:pPr>
            <a:r>
              <a:rPr lang="en-US" sz="1700" dirty="0">
                <a:solidFill>
                  <a:srgbClr val="202020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Built around discussion, judgment, and teamwork, not just technical skill</a:t>
            </a:r>
            <a:endParaRPr lang="en-US" sz="1700" dirty="0"/>
          </a:p>
          <a:p>
            <a:pPr marL="222504" indent="-222504" algn="l">
              <a:lnSpc>
                <a:spcPts val="2465"/>
              </a:lnSpc>
              <a:buSzPct val="100000"/>
              <a:buChar char="•"/>
            </a:pPr>
            <a:r>
              <a:rPr lang="en-US" sz="1700" dirty="0">
                <a:solidFill>
                  <a:srgbClr val="202020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Facilitator kits included: learning objectives, key reasoning points, and debrief questions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812800" y="5148610"/>
            <a:ext cx="10566400" cy="693390"/>
          </a:xfrm>
          <a:prstGeom prst="roundRect">
            <a:avLst>
              <a:gd name="adj" fmla="val 12821"/>
            </a:avLst>
          </a:prstGeom>
          <a:solidFill>
            <a:srgbClr val="202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66800" y="5344170"/>
            <a:ext cx="3721179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Request access for your school or district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954917" y="5326410"/>
            <a:ext cx="4170283" cy="36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F0555D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nextgencybered.org/praxis-early-access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6B6E73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// 04 OF 07</a:t>
            </a:r>
            <a:endParaRPr lang="en-US" sz="1200" dirty="0"/>
          </a:p>
        </p:txBody>
      </p:sp>
      <p:pic>
        <p:nvPicPr>
          <p:cNvPr id="9" name="Image 1" descr="Next Gen Cyber Ed logo"/>
          <p:cNvPicPr>
            <a:picLocks noChangeAspect="1"/>
          </p:cNvPicPr>
          <p:nvPr/>
        </p:nvPicPr>
        <p:blipFill>
          <a:blip r:embed="rId4"/>
          <a:srcRect t="-28" b="-28"/>
          <a:stretch/>
        </p:blipFill>
        <p:spPr>
          <a:xfrm>
            <a:off x="10109200" y="6191250"/>
            <a:ext cx="1270000" cy="311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97078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F0555D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/ / TODAY’S EXERCISE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14090"/>
            <a:ext cx="49707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0" i="0" dirty="0">
                <a:solidFill>
                  <a:srgbClr val="FFFFFF"/>
                </a:solidFill>
                <a:latin typeface="Black Ops One" pitchFamily="34" charset="0"/>
                <a:ea typeface="Black Ops One" pitchFamily="34" charset="-122"/>
                <a:cs typeface="Black Ops One" pitchFamily="34" charset="-120"/>
              </a:rPr>
              <a:t>HER VOICE, NOT HER WORDS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2484090"/>
            <a:ext cx="497078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200" dirty="0">
                <a:solidFill>
                  <a:srgbClr val="C8CACD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[ GRADE BAND :: 10-12 ]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4112369"/>
            <a:ext cx="497078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F0555D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YOUR ROLE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4412059"/>
            <a:ext cx="49707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Campus Educator, Cedar Bluff High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2800" y="4818459"/>
            <a:ext cx="49707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8CACD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Fictional Cedar Bluff ISD, Texas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5237559"/>
            <a:ext cx="49707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Something is spreading through your students’ group chats. How you respond is up to you.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248400" y="812800"/>
            <a:ext cx="528472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lack Ops One" pitchFamily="34" charset="0"/>
                <a:ea typeface="Black Ops One" pitchFamily="34" charset="-122"/>
                <a:cs typeface="Black Ops One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248400" y="1249660"/>
            <a:ext cx="355600" cy="355600"/>
          </a:xfrm>
          <a:prstGeom prst="rect">
            <a:avLst/>
          </a:prstGeom>
          <a:solidFill>
            <a:srgbClr val="D6273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lack Ops One" pitchFamily="34" charset="0"/>
                <a:ea typeface="Black Ops One" pitchFamily="34" charset="-122"/>
                <a:cs typeface="Black Ops One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56400" y="1287115"/>
            <a:ext cx="3324523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Play individually on your own device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248400" y="1706860"/>
            <a:ext cx="355600" cy="355600"/>
          </a:xfrm>
          <a:prstGeom prst="rect">
            <a:avLst/>
          </a:prstGeom>
          <a:solidFill>
            <a:srgbClr val="D6273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lack Ops One" pitchFamily="34" charset="0"/>
                <a:ea typeface="Black Ops One" pitchFamily="34" charset="-122"/>
                <a:cs typeface="Black Ops One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56400" y="1744315"/>
            <a:ext cx="2785110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The situation unfolds in stages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248400" y="2164060"/>
            <a:ext cx="355600" cy="355600"/>
          </a:xfrm>
          <a:prstGeom prst="rect">
            <a:avLst/>
          </a:prstGeom>
          <a:solidFill>
            <a:srgbClr val="D6273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lack Ops One" pitchFamily="34" charset="0"/>
                <a:ea typeface="Black Ops One" pitchFamily="34" charset="-122"/>
                <a:cs typeface="Black Ops One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56400" y="2201515"/>
            <a:ext cx="2297311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Each stage ends in a vote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48400" y="2621260"/>
            <a:ext cx="355600" cy="355600"/>
          </a:xfrm>
          <a:prstGeom prst="rect">
            <a:avLst/>
          </a:prstGeom>
          <a:solidFill>
            <a:srgbClr val="D6273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lack Ops One" pitchFamily="34" charset="0"/>
                <a:ea typeface="Black Ops One" pitchFamily="34" charset="-122"/>
                <a:cs typeface="Black Ops One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56400" y="2658715"/>
            <a:ext cx="3945017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Talk it through with colleagues while voting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48400" y="3078460"/>
            <a:ext cx="355600" cy="355600"/>
          </a:xfrm>
          <a:prstGeom prst="rect">
            <a:avLst/>
          </a:prstGeom>
          <a:solidFill>
            <a:srgbClr val="D6273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lack Ops One" pitchFamily="34" charset="0"/>
                <a:ea typeface="Black Ops One" pitchFamily="34" charset="-122"/>
                <a:cs typeface="Black Ops One" pitchFamily="34" charset="-120"/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56400" y="3115915"/>
            <a:ext cx="3144500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No perfect answers, only tradeoffs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248400" y="4902200"/>
            <a:ext cx="5130800" cy="939800"/>
          </a:xfrm>
          <a:prstGeom prst="roundRect">
            <a:avLst>
              <a:gd name="adj" fmla="val 9459"/>
            </a:avLst>
          </a:prstGeom>
          <a:solidFill>
            <a:srgbClr val="333333"/>
          </a:solidFill>
          <a:ln/>
        </p:spPr>
        <p:txBody>
          <a:bodyPr wrap="square" lIns="177162" tIns="177162" rIns="35430" bIns="151762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Notice the role.</a:t>
            </a:r>
            <a:r>
              <a:rPr lang="en-US" sz="1500" dirty="0">
                <a:solidFill>
                  <a:srgbClr val="FFFFFF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 </a:t>
            </a:r>
            <a:r>
              <a:rPr lang="en-US" sz="1500" dirty="0">
                <a:solidFill>
                  <a:srgbClr val="D7D9DC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Today Praxis casts you as an educator. The same platform puts students into whatever role a scenario calls for.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9A9DA2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// 05 OF 07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D62731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/ / GROUND RULES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6329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202020"/>
                </a:solidFill>
                <a:latin typeface="Black Ops One" pitchFamily="34" charset="0"/>
                <a:ea typeface="Black Ops One" pitchFamily="34" charset="-122"/>
                <a:cs typeface="Black Ops One" pitchFamily="34" charset="-120"/>
              </a:rPr>
              <a:t>BEFORE WE START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207320"/>
            <a:ext cx="5200650" cy="974030"/>
          </a:xfrm>
          <a:prstGeom prst="roundRect">
            <a:avLst>
              <a:gd name="adj" fmla="val 8801"/>
            </a:avLst>
          </a:prstGeom>
          <a:solidFill>
            <a:srgbClr val="F5F5F4"/>
          </a:solidFill>
          <a:ln w="6350">
            <a:solidFill>
              <a:srgbClr val="DDDE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2350" y="2516535"/>
            <a:ext cx="355600" cy="355600"/>
          </a:xfrm>
          <a:prstGeom prst="rect">
            <a:avLst/>
          </a:prstGeom>
          <a:solidFill>
            <a:srgbClr val="2020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lack Ops One" pitchFamily="34" charset="0"/>
                <a:ea typeface="Black Ops One" pitchFamily="34" charset="-122"/>
                <a:cs typeface="Black Ops One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30350" y="2553990"/>
            <a:ext cx="3232547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202020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Stay in the scenario. Treat it as real.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175375" y="2207320"/>
            <a:ext cx="5200650" cy="974030"/>
          </a:xfrm>
          <a:prstGeom prst="roundRect">
            <a:avLst>
              <a:gd name="adj" fmla="val 8801"/>
            </a:avLst>
          </a:prstGeom>
          <a:solidFill>
            <a:srgbClr val="F5F5F4"/>
          </a:solidFill>
          <a:ln w="6350">
            <a:solidFill>
              <a:srgbClr val="DDDE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81750" y="2516535"/>
            <a:ext cx="355600" cy="355600"/>
          </a:xfrm>
          <a:prstGeom prst="rect">
            <a:avLst/>
          </a:prstGeom>
          <a:solidFill>
            <a:srgbClr val="2020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lack Ops One" pitchFamily="34" charset="0"/>
                <a:ea typeface="Black Ops One" pitchFamily="34" charset="-122"/>
                <a:cs typeface="Black Ops One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89750" y="2413695"/>
            <a:ext cx="4408297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202020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Decide with the information you have. You won’t have all of it.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15975" y="3340100"/>
            <a:ext cx="5200650" cy="974030"/>
          </a:xfrm>
          <a:prstGeom prst="roundRect">
            <a:avLst>
              <a:gd name="adj" fmla="val 8801"/>
            </a:avLst>
          </a:prstGeom>
          <a:solidFill>
            <a:srgbClr val="F5F5F4"/>
          </a:solidFill>
          <a:ln w="6350">
            <a:solidFill>
              <a:srgbClr val="DDDE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22350" y="3649315"/>
            <a:ext cx="355600" cy="355600"/>
          </a:xfrm>
          <a:prstGeom prst="rect">
            <a:avLst/>
          </a:prstGeom>
          <a:solidFill>
            <a:srgbClr val="2020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lack Ops One" pitchFamily="34" charset="0"/>
                <a:ea typeface="Black Ops One" pitchFamily="34" charset="-122"/>
                <a:cs typeface="Black Ops One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30350" y="3546475"/>
            <a:ext cx="4408297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202020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Use the voting periods. Your neighbors may see something you missed.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75375" y="3340100"/>
            <a:ext cx="5200650" cy="974030"/>
          </a:xfrm>
          <a:prstGeom prst="roundRect">
            <a:avLst>
              <a:gd name="adj" fmla="val 8801"/>
            </a:avLst>
          </a:prstGeom>
          <a:solidFill>
            <a:srgbClr val="F5F5F4"/>
          </a:solidFill>
          <a:ln w="6350">
            <a:solidFill>
              <a:srgbClr val="DDDE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81750" y="3649315"/>
            <a:ext cx="355600" cy="355600"/>
          </a:xfrm>
          <a:prstGeom prst="rect">
            <a:avLst/>
          </a:prstGeom>
          <a:solidFill>
            <a:srgbClr val="2020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lack Ops One" pitchFamily="34" charset="0"/>
                <a:ea typeface="Black Ops One" pitchFamily="34" charset="-122"/>
                <a:cs typeface="Black Ops One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89750" y="3686770"/>
            <a:ext cx="4364772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202020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Classroom questions? Hold them for the debrief.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12800" y="4855270"/>
            <a:ext cx="6773317" cy="986730"/>
          </a:xfrm>
          <a:prstGeom prst="roundRect">
            <a:avLst>
              <a:gd name="adj" fmla="val 9010"/>
            </a:avLst>
          </a:prstGeom>
          <a:solidFill>
            <a:srgbClr val="202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6800" y="5058470"/>
            <a:ext cx="645327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F0555D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AT 2:00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66800" y="5358160"/>
            <a:ext cx="6453276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SWOT debrief on the exercise and how it would work with your students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738517" y="4855270"/>
            <a:ext cx="3640683" cy="986730"/>
          </a:xfrm>
          <a:prstGeom prst="roundRect">
            <a:avLst>
              <a:gd name="adj" fmla="val 9010"/>
            </a:avLst>
          </a:prstGeom>
          <a:solidFill>
            <a:srgbClr val="D62731"/>
          </a:solidFill>
          <a:ln/>
        </p:spPr>
        <p:txBody>
          <a:bodyPr wrap="square" lIns="227962" tIns="170167" rIns="227962" bIns="170167" rtlCol="0" anchor="ctr">
            <a:normAutofit/>
          </a:bodyPr>
          <a:lstStyle/>
          <a:p>
            <a:pPr marL="0" indent="0" algn="ctr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Black Ops One" pitchFamily="34" charset="0"/>
                <a:ea typeface="Black Ops One" pitchFamily="34" charset="-122"/>
                <a:cs typeface="Black Ops One" pitchFamily="34" charset="-120"/>
              </a:rPr>
              <a:t>LET’S GO.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6B6E73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// 06 OF 07</a:t>
            </a:r>
            <a:endParaRPr lang="en-US" sz="1200" dirty="0"/>
          </a:p>
        </p:txBody>
      </p:sp>
      <p:pic>
        <p:nvPicPr>
          <p:cNvPr id="21" name="Image 0" descr="Next Gen Cyber Ed logo"/>
          <p:cNvPicPr>
            <a:picLocks noChangeAspect="1"/>
          </p:cNvPicPr>
          <p:nvPr/>
        </p:nvPicPr>
        <p:blipFill>
          <a:blip r:embed="rId3"/>
          <a:srcRect t="-28" b="-28"/>
          <a:stretch/>
        </p:blipFill>
        <p:spPr>
          <a:xfrm>
            <a:off x="10109200" y="6191250"/>
            <a:ext cx="1270000" cy="3111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D627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685444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F0555D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/ / BRING PRAXIS TO YOUR SCHOOL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214090"/>
            <a:ext cx="6854444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0" i="0" dirty="0">
                <a:solidFill>
                  <a:srgbClr val="FFFFFF"/>
                </a:solidFill>
                <a:latin typeface="Black Ops One" pitchFamily="34" charset="0"/>
                <a:ea typeface="Black Ops One" pitchFamily="34" charset="-122"/>
                <a:cs typeface="Black Ops One" pitchFamily="34" charset="-120"/>
              </a:rPr>
              <a:t>REQUEST ACCESS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12800" y="2037011"/>
            <a:ext cx="6854444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D7D9DC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Register your school or district for access to Praxis scenarios and facilitator kits.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12800" y="2864991"/>
            <a:ext cx="6854444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0555D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nextgencybered.org/praxis-early-access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12800" y="5760740"/>
            <a:ext cx="685444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John Owen</a:t>
            </a:r>
            <a:r>
              <a:rPr lang="en-US" sz="1600" dirty="0">
                <a:solidFill>
                  <a:srgbClr val="D7D9DC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 | info@NextGenCyberEd.org</a:t>
            </a:r>
            <a:endParaRPr lang="en-US" sz="1600" dirty="0"/>
          </a:p>
        </p:txBody>
      </p:sp>
      <p:pic>
        <p:nvPicPr>
          <p:cNvPr id="8" name="Image 0" descr="Praxis shield logomark"/>
          <p:cNvPicPr>
            <a:picLocks noChangeAspect="1"/>
          </p:cNvPicPr>
          <p:nvPr/>
        </p:nvPicPr>
        <p:blipFill>
          <a:blip r:embed="rId3"/>
          <a:srcRect t="-1966" b="-1966"/>
          <a:stretch/>
        </p:blipFill>
        <p:spPr>
          <a:xfrm>
            <a:off x="9220200" y="1200150"/>
            <a:ext cx="1016000" cy="1016000"/>
          </a:xfrm>
          <a:prstGeom prst="rect">
            <a:avLst/>
          </a:prstGeom>
        </p:spPr>
      </p:pic>
      <p:pic>
        <p:nvPicPr>
          <p:cNvPr id="9" name="Image 1" descr="QR code for nextgencybered.org/praxis-early-access"/>
          <p:cNvPicPr>
            <a:picLocks noChangeAspect="1"/>
          </p:cNvPicPr>
          <p:nvPr/>
        </p:nvPicPr>
        <p:blipFill>
          <a:blip r:embed="rId4"/>
          <a:srcRect l="-1308" r="-1308"/>
          <a:stretch/>
        </p:blipFill>
        <p:spPr>
          <a:xfrm>
            <a:off x="8077200" y="2419350"/>
            <a:ext cx="3302000" cy="3238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eTeach_Cyber Praxis Exercise">
  <a:themeElements>
    <a:clrScheme name="WeTeach_Cyber Praxis Exercise">
      <a:dk1>
        <a:srgbClr val="202020"/>
      </a:dk1>
      <a:lt1>
        <a:srgbClr val="FFFFFF"/>
      </a:lt1>
      <a:dk2>
        <a:srgbClr val="585858"/>
      </a:dk2>
      <a:lt2>
        <a:srgbClr val="E9E9E9"/>
      </a:lt2>
      <a:accent1>
        <a:srgbClr val="D62731"/>
      </a:accent1>
      <a:accent2>
        <a:srgbClr val="F0555D"/>
      </a:accent2>
      <a:accent3>
        <a:srgbClr val="6B6E73"/>
      </a:accent3>
      <a:accent4>
        <a:srgbClr val="C8CACD"/>
      </a:accent4>
      <a:accent5>
        <a:srgbClr val="3F4247"/>
      </a:accent5>
      <a:accent6>
        <a:srgbClr val="D7D9DC"/>
      </a:accent6>
      <a:hlink>
        <a:srgbClr val="0563C1"/>
      </a:hlink>
      <a:folHlink>
        <a:srgbClr val="954F72"/>
      </a:folHlink>
    </a:clrScheme>
    <a:fontScheme name="WeTeach_Cyber Praxis Exercise">
      <a:majorFont>
        <a:latin typeface="Black Ops On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ira Condense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738</Words>
  <Application>Microsoft Macintosh PowerPoint</Application>
  <PresentationFormat>Widescreen</PresentationFormat>
  <Paragraphs>92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Black Ops One</vt:lpstr>
      <vt:lpstr>Saira Condensed</vt:lpstr>
      <vt:lpstr>WeTeach_Cyber Praxis Exercise</vt:lpstr>
      <vt:lpstr>TABLETOP SCENARIO EXERCISE</vt:lpstr>
      <vt:lpstr>NEXT GEN CYBER ED</vt:lpstr>
      <vt:lpstr>JOHN OWEN</vt:lpstr>
      <vt:lpstr>BUILT FOR K-12 CLASSROOMS</vt:lpstr>
      <vt:lpstr>HER VOICE, NOT HER WORDS</vt:lpstr>
      <vt:lpstr>BEFORE WE START</vt:lpstr>
      <vt:lpstr>REQUEST ACCESS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WeTeach_Cyber Praxis Exercise</dc:title>
  <dc:subject/>
  <dc:creator/>
  <cp:lastModifiedBy>John Owen</cp:lastModifiedBy>
  <cp:revision>2</cp:revision>
  <dcterms:created xsi:type="dcterms:W3CDTF">2026-10-19T01:17:53Z</dcterms:created>
  <dcterms:modified xsi:type="dcterms:W3CDTF">2026-10-19T17:43:06Z</dcterms:modified>
</cp:coreProperties>
</file>